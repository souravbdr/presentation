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256"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BCCFF"/>
    <a:srgbClr val="F92B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0E36462-4C62-43F6-83FF-5574F47ACCD0}" type="datetimeFigureOut">
              <a:rPr lang="en-US" smtClean="0"/>
              <a:t>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5EEE8E-A922-4087-81D3-9E1BA9FA7F85}" type="slidenum">
              <a:rPr lang="en-US" smtClean="0"/>
              <a:t>‹#›</a:t>
            </a:fld>
            <a:endParaRPr lang="en-US"/>
          </a:p>
        </p:txBody>
      </p:sp>
    </p:spTree>
    <p:extLst>
      <p:ext uri="{BB962C8B-B14F-4D97-AF65-F5344CB8AC3E}">
        <p14:creationId xmlns:p14="http://schemas.microsoft.com/office/powerpoint/2010/main" val="2638623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0E36462-4C62-43F6-83FF-5574F47ACCD0}" type="datetimeFigureOut">
              <a:rPr lang="en-US" smtClean="0"/>
              <a:t>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5EEE8E-A922-4087-81D3-9E1BA9FA7F85}" type="slidenum">
              <a:rPr lang="en-US" smtClean="0"/>
              <a:t>‹#›</a:t>
            </a:fld>
            <a:endParaRPr lang="en-US"/>
          </a:p>
        </p:txBody>
      </p:sp>
    </p:spTree>
    <p:extLst>
      <p:ext uri="{BB962C8B-B14F-4D97-AF65-F5344CB8AC3E}">
        <p14:creationId xmlns:p14="http://schemas.microsoft.com/office/powerpoint/2010/main" val="2599859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0E36462-4C62-43F6-83FF-5574F47ACCD0}" type="datetimeFigureOut">
              <a:rPr lang="en-US" smtClean="0"/>
              <a:t>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5EEE8E-A922-4087-81D3-9E1BA9FA7F85}" type="slidenum">
              <a:rPr lang="en-US" smtClean="0"/>
              <a:t>‹#›</a:t>
            </a:fld>
            <a:endParaRPr lang="en-US"/>
          </a:p>
        </p:txBody>
      </p:sp>
    </p:spTree>
    <p:extLst>
      <p:ext uri="{BB962C8B-B14F-4D97-AF65-F5344CB8AC3E}">
        <p14:creationId xmlns:p14="http://schemas.microsoft.com/office/powerpoint/2010/main" val="3497544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0E36462-4C62-43F6-83FF-5574F47ACCD0}" type="datetimeFigureOut">
              <a:rPr lang="en-US" smtClean="0"/>
              <a:t>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5EEE8E-A922-4087-81D3-9E1BA9FA7F85}" type="slidenum">
              <a:rPr lang="en-US" smtClean="0"/>
              <a:t>‹#›</a:t>
            </a:fld>
            <a:endParaRPr lang="en-US"/>
          </a:p>
        </p:txBody>
      </p:sp>
    </p:spTree>
    <p:extLst>
      <p:ext uri="{BB962C8B-B14F-4D97-AF65-F5344CB8AC3E}">
        <p14:creationId xmlns:p14="http://schemas.microsoft.com/office/powerpoint/2010/main" val="2466153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0E36462-4C62-43F6-83FF-5574F47ACCD0}" type="datetimeFigureOut">
              <a:rPr lang="en-US" smtClean="0"/>
              <a:t>2/4/2020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55EEE8E-A922-4087-81D3-9E1BA9FA7F85}" type="slidenum">
              <a:rPr lang="en-US" smtClean="0"/>
              <a:t>‹#›</a:t>
            </a:fld>
            <a:endParaRPr lang="en-US"/>
          </a:p>
        </p:txBody>
      </p:sp>
    </p:spTree>
    <p:extLst>
      <p:ext uri="{BB962C8B-B14F-4D97-AF65-F5344CB8AC3E}">
        <p14:creationId xmlns:p14="http://schemas.microsoft.com/office/powerpoint/2010/main" val="1365672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0E36462-4C62-43F6-83FF-5574F47ACCD0}" type="datetimeFigureOut">
              <a:rPr lang="en-US" smtClean="0"/>
              <a:t>2/4/2020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55EEE8E-A922-4087-81D3-9E1BA9FA7F85}" type="slidenum">
              <a:rPr lang="en-US" smtClean="0"/>
              <a:t>‹#›</a:t>
            </a:fld>
            <a:endParaRPr lang="en-US"/>
          </a:p>
        </p:txBody>
      </p:sp>
    </p:spTree>
    <p:extLst>
      <p:ext uri="{BB962C8B-B14F-4D97-AF65-F5344CB8AC3E}">
        <p14:creationId xmlns:p14="http://schemas.microsoft.com/office/powerpoint/2010/main" val="358544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E36462-4C62-43F6-83FF-5574F47ACCD0}" type="datetimeFigureOut">
              <a:rPr lang="en-US" smtClean="0"/>
              <a:t>2/4/2020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55EEE8E-A922-4087-81D3-9E1BA9FA7F85}" type="slidenum">
              <a:rPr lang="en-US" smtClean="0"/>
              <a:t>‹#›</a:t>
            </a:fld>
            <a:endParaRPr lang="en-US"/>
          </a:p>
        </p:txBody>
      </p:sp>
    </p:spTree>
    <p:extLst>
      <p:ext uri="{BB962C8B-B14F-4D97-AF65-F5344CB8AC3E}">
        <p14:creationId xmlns:p14="http://schemas.microsoft.com/office/powerpoint/2010/main" val="267128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E36462-4C62-43F6-83FF-5574F47ACCD0}" type="datetimeFigureOut">
              <a:rPr lang="en-US" smtClean="0"/>
              <a:t>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5EEE8E-A922-4087-81D3-9E1BA9FA7F85}" type="slidenum">
              <a:rPr lang="en-US" smtClean="0"/>
              <a:t>‹#›</a:t>
            </a:fld>
            <a:endParaRPr lang="en-US"/>
          </a:p>
        </p:txBody>
      </p:sp>
    </p:spTree>
    <p:extLst>
      <p:ext uri="{BB962C8B-B14F-4D97-AF65-F5344CB8AC3E}">
        <p14:creationId xmlns:p14="http://schemas.microsoft.com/office/powerpoint/2010/main" val="3303733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E36462-4C62-43F6-83FF-5574F47ACCD0}" type="datetimeFigureOut">
              <a:rPr lang="en-US" smtClean="0"/>
              <a:t>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5EEE8E-A922-4087-81D3-9E1BA9FA7F85}" type="slidenum">
              <a:rPr lang="en-US" smtClean="0"/>
              <a:t>‹#›</a:t>
            </a:fld>
            <a:endParaRPr lang="en-US"/>
          </a:p>
        </p:txBody>
      </p:sp>
    </p:spTree>
    <p:extLst>
      <p:ext uri="{BB962C8B-B14F-4D97-AF65-F5344CB8AC3E}">
        <p14:creationId xmlns:p14="http://schemas.microsoft.com/office/powerpoint/2010/main" val="2100783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0E36462-4C62-43F6-83FF-5574F47ACCD0}" type="datetimeFigureOut">
              <a:rPr lang="en-US" smtClean="0"/>
              <a:t>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5EEE8E-A922-4087-81D3-9E1BA9FA7F85}" type="slidenum">
              <a:rPr lang="en-US" smtClean="0"/>
              <a:t>‹#›</a:t>
            </a:fld>
            <a:endParaRPr lang="en-US"/>
          </a:p>
        </p:txBody>
      </p:sp>
    </p:spTree>
    <p:extLst>
      <p:ext uri="{BB962C8B-B14F-4D97-AF65-F5344CB8AC3E}">
        <p14:creationId xmlns:p14="http://schemas.microsoft.com/office/powerpoint/2010/main" val="1154604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0E36462-4C62-43F6-83FF-5574F47ACCD0}" type="datetimeFigureOut">
              <a:rPr lang="en-US" smtClean="0"/>
              <a:t>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5EEE8E-A922-4087-81D3-9E1BA9FA7F85}" type="slidenum">
              <a:rPr lang="en-US" smtClean="0"/>
              <a:t>‹#›</a:t>
            </a:fld>
            <a:endParaRPr lang="en-US"/>
          </a:p>
        </p:txBody>
      </p:sp>
    </p:spTree>
    <p:extLst>
      <p:ext uri="{BB962C8B-B14F-4D97-AF65-F5344CB8AC3E}">
        <p14:creationId xmlns:p14="http://schemas.microsoft.com/office/powerpoint/2010/main" val="3554113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E36462-4C62-43F6-83FF-5574F47ACCD0}" type="datetimeFigureOut">
              <a:rPr lang="en-US" smtClean="0"/>
              <a:t>2/4/2020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5EEE8E-A922-4087-81D3-9E1BA9FA7F85}" type="slidenum">
              <a:rPr lang="en-US" smtClean="0"/>
              <a:t>‹#›</a:t>
            </a:fld>
            <a:endParaRPr lang="en-US"/>
          </a:p>
        </p:txBody>
      </p:sp>
    </p:spTree>
    <p:extLst>
      <p:ext uri="{BB962C8B-B14F-4D97-AF65-F5344CB8AC3E}">
        <p14:creationId xmlns:p14="http://schemas.microsoft.com/office/powerpoint/2010/main" val="209926700"/>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14569" y="1780220"/>
            <a:ext cx="8321189" cy="923330"/>
          </a:xfrm>
          <a:prstGeom prst="rect">
            <a:avLst/>
          </a:prstGeom>
          <a:noFill/>
        </p:spPr>
        <p:txBody>
          <a:bodyPr wrap="none" lIns="91440" tIns="45720" rIns="91440" bIns="45720">
            <a:spAutoFit/>
          </a:bodyPr>
          <a:lstStyle/>
          <a:p>
            <a:pPr algn="ctr"/>
            <a:r>
              <a:rPr lang="en-US" sz="5400" b="1" cap="none" spc="0" dirty="0" smtClean="0">
                <a:ln w="0"/>
                <a:solidFill>
                  <a:schemeClr val="tx1"/>
                </a:solidFill>
                <a:effectLst>
                  <a:outerShdw blurRad="38100" dist="19050" dir="2700000" algn="tl" rotWithShape="0">
                    <a:schemeClr val="dk1">
                      <a:alpha val="40000"/>
                    </a:schemeClr>
                  </a:outerShdw>
                </a:effectLst>
              </a:rPr>
              <a:t>How Angular Router Works?</a:t>
            </a:r>
            <a:endParaRPr lang="en-US" sz="5400" b="1" cap="none" spc="0" dirty="0">
              <a:ln w="0"/>
              <a:solidFill>
                <a:schemeClr val="tx1"/>
              </a:solidFill>
              <a:effectLst>
                <a:outerShdw blurRad="38100" dist="19050" dir="2700000" algn="tl" rotWithShape="0">
                  <a:schemeClr val="dk1">
                    <a:alpha val="40000"/>
                  </a:schemeClr>
                </a:outerShdw>
              </a:effectLst>
            </a:endParaRPr>
          </a:p>
        </p:txBody>
      </p:sp>
      <p:sp>
        <p:nvSpPr>
          <p:cNvPr id="5" name="Rectangle 4"/>
          <p:cNvSpPr/>
          <p:nvPr/>
        </p:nvSpPr>
        <p:spPr>
          <a:xfrm>
            <a:off x="1807075" y="416641"/>
            <a:ext cx="7660752" cy="923330"/>
          </a:xfrm>
          <a:prstGeom prst="rect">
            <a:avLst/>
          </a:prstGeom>
          <a:noFill/>
        </p:spPr>
        <p:txBody>
          <a:bodyPr wrap="none" lIns="91440" tIns="45720" rIns="91440" bIns="45720">
            <a:spAutoFit/>
          </a:bodyPr>
          <a:lstStyle/>
          <a:p>
            <a:pPr algn="ctr"/>
            <a:r>
              <a:rPr lang="en-US" sz="5400" b="1" cap="none" spc="0" dirty="0" smtClean="0">
                <a:ln w="0"/>
                <a:solidFill>
                  <a:schemeClr val="tx1"/>
                </a:solidFill>
                <a:effectLst>
                  <a:outerShdw blurRad="38100" dist="19050" dir="2700000" algn="tl" rotWithShape="0">
                    <a:schemeClr val="dk1">
                      <a:alpha val="40000"/>
                    </a:schemeClr>
                  </a:outerShdw>
                </a:effectLst>
              </a:rPr>
              <a:t>Why routing is necessary?</a:t>
            </a:r>
            <a:endParaRPr lang="en-US" sz="5400" b="1" cap="none" spc="0" dirty="0">
              <a:ln w="0"/>
              <a:solidFill>
                <a:schemeClr val="tx1"/>
              </a:solidFill>
              <a:effectLst>
                <a:outerShdw blurRad="38100" dist="19050" dir="2700000" algn="tl" rotWithShape="0">
                  <a:schemeClr val="dk1">
                    <a:alpha val="40000"/>
                  </a:schemeClr>
                </a:outerShdw>
              </a:effectLst>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5793" y="3143799"/>
            <a:ext cx="4903316" cy="2940036"/>
          </a:xfrm>
          <a:prstGeom prst="rect">
            <a:avLst/>
          </a:prstGeom>
        </p:spPr>
      </p:pic>
    </p:spTree>
    <p:extLst>
      <p:ext uri="{BB962C8B-B14F-4D97-AF65-F5344CB8AC3E}">
        <p14:creationId xmlns:p14="http://schemas.microsoft.com/office/powerpoint/2010/main" val="506309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8406" y="1727886"/>
            <a:ext cx="5389605" cy="5389605"/>
          </a:xfrm>
          <a:prstGeom prst="rect">
            <a:avLst/>
          </a:prstGeom>
        </p:spPr>
      </p:pic>
      <p:sp>
        <p:nvSpPr>
          <p:cNvPr id="12" name="Rectangle 11"/>
          <p:cNvSpPr/>
          <p:nvPr/>
        </p:nvSpPr>
        <p:spPr>
          <a:xfrm>
            <a:off x="988373" y="619890"/>
            <a:ext cx="10015499" cy="1323439"/>
          </a:xfrm>
          <a:prstGeom prst="rect">
            <a:avLst/>
          </a:prstGeom>
        </p:spPr>
        <p:txBody>
          <a:bodyPr wrap="none">
            <a:spAutoFit/>
          </a:bodyPr>
          <a:lstStyle/>
          <a:p>
            <a:pPr algn="ctr"/>
            <a:r>
              <a:rPr lang="en-US" sz="8000" b="1" spc="50" dirty="0" smtClean="0">
                <a:ln w="0"/>
                <a:solidFill>
                  <a:schemeClr val="bg1">
                    <a:lumMod val="50000"/>
                    <a:lumOff val="50000"/>
                  </a:schemeClr>
                </a:solidFill>
                <a:effectLst>
                  <a:innerShdw blurRad="63500" dist="50800" dir="13500000">
                    <a:srgbClr val="000000">
                      <a:alpha val="50000"/>
                    </a:srgbClr>
                  </a:innerShdw>
                </a:effectLst>
              </a:rPr>
              <a:t>ROUTING IN ANGULAR</a:t>
            </a:r>
            <a:endParaRPr lang="en-US" sz="8000" b="1" cap="none" spc="50" dirty="0">
              <a:ln w="0"/>
              <a:solidFill>
                <a:schemeClr val="bg1">
                  <a:lumMod val="50000"/>
                  <a:lumOff val="50000"/>
                </a:schemeClr>
              </a:solidFill>
              <a:effectLst>
                <a:innerShdw blurRad="63500" dist="50800" dir="13500000">
                  <a:srgbClr val="000000">
                    <a:alpha val="50000"/>
                  </a:srgbClr>
                </a:innerShdw>
              </a:effectLst>
            </a:endParaRPr>
          </a:p>
        </p:txBody>
      </p:sp>
    </p:spTree>
    <p:extLst>
      <p:ext uri="{BB962C8B-B14F-4D97-AF65-F5344CB8AC3E}">
        <p14:creationId xmlns:p14="http://schemas.microsoft.com/office/powerpoint/2010/main" val="18443151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95662" y="2461376"/>
            <a:ext cx="9846818" cy="1815882"/>
          </a:xfrm>
          <a:prstGeom prst="rect">
            <a:avLst/>
          </a:prstGeom>
          <a:noFill/>
        </p:spPr>
        <p:txBody>
          <a:bodyPr wrap="square" rtlCol="0">
            <a:spAutoFit/>
          </a:bodyPr>
          <a:lstStyle/>
          <a:p>
            <a:pPr algn="just"/>
            <a:r>
              <a:rPr lang="en-US" sz="2800" dirty="0" smtClean="0"/>
              <a:t>Routing helps in directing users to different pages based on the option they choose on the main page. Hence, based on the option they choose, the required Angular Component will be rendered to the user.</a:t>
            </a:r>
            <a:endParaRPr lang="en-US" sz="2800" dirty="0"/>
          </a:p>
        </p:txBody>
      </p:sp>
      <p:sp>
        <p:nvSpPr>
          <p:cNvPr id="5" name="Rectangle 4"/>
          <p:cNvSpPr/>
          <p:nvPr/>
        </p:nvSpPr>
        <p:spPr>
          <a:xfrm>
            <a:off x="2071164" y="414419"/>
            <a:ext cx="7988969" cy="707886"/>
          </a:xfrm>
          <a:prstGeom prst="rect">
            <a:avLst/>
          </a:prstGeom>
        </p:spPr>
        <p:txBody>
          <a:bodyPr wrap="square">
            <a:spAutoFit/>
          </a:bodyPr>
          <a:lstStyle/>
          <a:p>
            <a:pPr algn="ctr"/>
            <a:r>
              <a:rPr lang="en-US" sz="4000" b="1" cap="none" spc="0" dirty="0" smtClean="0">
                <a:ln w="0"/>
                <a:solidFill>
                  <a:schemeClr val="tx1"/>
                </a:solidFill>
                <a:effectLst>
                  <a:outerShdw blurRad="38100" dist="19050" dir="2700000" algn="tl" rotWithShape="0">
                    <a:schemeClr val="dk1">
                      <a:alpha val="40000"/>
                    </a:schemeClr>
                  </a:outerShdw>
                </a:effectLst>
              </a:rPr>
              <a:t>Why routing is necessary?</a:t>
            </a:r>
            <a:endParaRPr lang="en-US" sz="4000" b="1"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5233275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69468" y="597387"/>
            <a:ext cx="6211380" cy="707886"/>
          </a:xfrm>
          <a:prstGeom prst="rect">
            <a:avLst/>
          </a:prstGeom>
        </p:spPr>
        <p:txBody>
          <a:bodyPr wrap="none">
            <a:spAutoFit/>
          </a:bodyPr>
          <a:lstStyle/>
          <a:p>
            <a:pPr algn="ctr"/>
            <a:r>
              <a:rPr lang="en-US" sz="4000" b="1" cap="none" spc="0" dirty="0" smtClean="0">
                <a:ln w="0"/>
                <a:solidFill>
                  <a:schemeClr val="tx1"/>
                </a:solidFill>
                <a:effectLst>
                  <a:outerShdw blurRad="38100" dist="19050" dir="2700000" algn="tl" rotWithShape="0">
                    <a:schemeClr val="dk1">
                      <a:alpha val="40000"/>
                    </a:schemeClr>
                  </a:outerShdw>
                </a:effectLst>
              </a:rPr>
              <a:t>How Angular Router Works?</a:t>
            </a:r>
            <a:endParaRPr lang="en-US" sz="4000" b="1" cap="none" spc="0" dirty="0">
              <a:ln w="0"/>
              <a:solidFill>
                <a:schemeClr val="tx1"/>
              </a:solidFill>
              <a:effectLst>
                <a:outerShdw blurRad="38100" dist="19050" dir="2700000" algn="tl" rotWithShape="0">
                  <a:schemeClr val="dk1">
                    <a:alpha val="40000"/>
                  </a:schemeClr>
                </a:outerShdw>
              </a:effectLst>
            </a:endParaRPr>
          </a:p>
        </p:txBody>
      </p:sp>
      <p:sp>
        <p:nvSpPr>
          <p:cNvPr id="5" name="TextBox 4"/>
          <p:cNvSpPr txBox="1"/>
          <p:nvPr/>
        </p:nvSpPr>
        <p:spPr>
          <a:xfrm>
            <a:off x="1331495" y="1860884"/>
            <a:ext cx="10090484" cy="3539430"/>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it reads the browser URL the user wants to navigate to</a:t>
            </a:r>
          </a:p>
          <a:p>
            <a:pPr marL="457200" indent="-457200" algn="just">
              <a:buFont typeface="Arial" panose="020B0604020202020204" pitchFamily="34" charset="0"/>
              <a:buChar char="•"/>
            </a:pPr>
            <a:r>
              <a:rPr lang="en-US" sz="2800" dirty="0"/>
              <a:t>it applies a URL redirect (if one is defined)</a:t>
            </a:r>
          </a:p>
          <a:p>
            <a:pPr marL="457200" indent="-457200" algn="just">
              <a:buFont typeface="Arial" panose="020B0604020202020204" pitchFamily="34" charset="0"/>
              <a:buChar char="•"/>
            </a:pPr>
            <a:r>
              <a:rPr lang="en-US" sz="2800" dirty="0"/>
              <a:t>it figures out which router state corresponds to the URL</a:t>
            </a:r>
          </a:p>
          <a:p>
            <a:pPr marL="457200" indent="-457200" algn="just">
              <a:buFont typeface="Arial" panose="020B0604020202020204" pitchFamily="34" charset="0"/>
              <a:buChar char="•"/>
            </a:pPr>
            <a:r>
              <a:rPr lang="en-US" sz="2800" dirty="0"/>
              <a:t>it runs the guards that are defined in the router state</a:t>
            </a:r>
          </a:p>
          <a:p>
            <a:pPr marL="457200" indent="-457200" algn="just">
              <a:buFont typeface="Arial" panose="020B0604020202020204" pitchFamily="34" charset="0"/>
              <a:buChar char="•"/>
            </a:pPr>
            <a:r>
              <a:rPr lang="en-US" sz="2800" dirty="0"/>
              <a:t>it resolves the required data for the router state</a:t>
            </a:r>
          </a:p>
          <a:p>
            <a:pPr marL="457200" indent="-457200" algn="just">
              <a:buFont typeface="Arial" panose="020B0604020202020204" pitchFamily="34" charset="0"/>
              <a:buChar char="•"/>
            </a:pPr>
            <a:r>
              <a:rPr lang="en-US" sz="2800" dirty="0"/>
              <a:t>it activates the Angular components to display the page</a:t>
            </a:r>
          </a:p>
          <a:p>
            <a:pPr marL="457200" indent="-457200" algn="just">
              <a:buFont typeface="Arial" panose="020B0604020202020204" pitchFamily="34" charset="0"/>
              <a:buChar char="•"/>
            </a:pPr>
            <a:r>
              <a:rPr lang="en-US" sz="2800" dirty="0"/>
              <a:t>it manages navigation and repeats the steps above when a new page is requested</a:t>
            </a:r>
            <a:r>
              <a:rPr lang="en-US" dirty="0"/>
              <a:t>.</a:t>
            </a:r>
          </a:p>
        </p:txBody>
      </p:sp>
    </p:spTree>
    <p:extLst>
      <p:ext uri="{BB962C8B-B14F-4D97-AF65-F5344CB8AC3E}">
        <p14:creationId xmlns:p14="http://schemas.microsoft.com/office/powerpoint/2010/main" val="35835585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050" y="199182"/>
            <a:ext cx="8384591" cy="707886"/>
          </a:xfrm>
          <a:prstGeom prst="rect">
            <a:avLst/>
          </a:prstGeom>
          <a:noFill/>
        </p:spPr>
        <p:txBody>
          <a:bodyPr wrap="square" lIns="91440" tIns="45720" rIns="91440" bIns="45720">
            <a:spAutoFit/>
          </a:bodyPr>
          <a:lstStyle/>
          <a:p>
            <a:pPr algn="ctr"/>
            <a:r>
              <a:rPr lang="en-US" sz="4000" b="0" cap="none" spc="0" dirty="0" smtClean="0">
                <a:ln w="0"/>
                <a:solidFill>
                  <a:schemeClr val="tx1"/>
                </a:solidFill>
                <a:effectLst>
                  <a:outerShdw blurRad="38100" dist="19050" dir="2700000" algn="tl" rotWithShape="0">
                    <a:schemeClr val="dk1">
                      <a:alpha val="40000"/>
                    </a:schemeClr>
                  </a:outerShdw>
                </a:effectLst>
              </a:rPr>
              <a:t>Major Components Of Routing</a:t>
            </a:r>
            <a:endParaRPr lang="en-US" sz="4000" b="0" cap="none" spc="0" dirty="0">
              <a:ln w="0"/>
              <a:solidFill>
                <a:schemeClr val="tx1"/>
              </a:solidFill>
              <a:effectLst>
                <a:outerShdw blurRad="38100" dist="19050" dir="2700000" algn="tl" rotWithShape="0">
                  <a:schemeClr val="dk1">
                    <a:alpha val="40000"/>
                  </a:schemeClr>
                </a:outerShdw>
              </a:effectLst>
            </a:endParaRPr>
          </a:p>
        </p:txBody>
      </p:sp>
      <p:sp>
        <p:nvSpPr>
          <p:cNvPr id="5" name="Rounded Rectangle 4"/>
          <p:cNvSpPr/>
          <p:nvPr/>
        </p:nvSpPr>
        <p:spPr>
          <a:xfrm>
            <a:off x="2343458" y="1160506"/>
            <a:ext cx="6467776" cy="479055"/>
          </a:xfrm>
          <a:prstGeom prst="roundRect">
            <a:avLst/>
          </a:prstGeom>
          <a:solidFill>
            <a:srgbClr val="3BCCFF"/>
          </a:solidFill>
          <a:ln>
            <a:solidFill>
              <a:srgbClr val="3B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2343458" y="2762536"/>
            <a:ext cx="6467777" cy="479055"/>
          </a:xfrm>
          <a:prstGeom prst="round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2343458" y="4793036"/>
            <a:ext cx="6467776" cy="479055"/>
          </a:xfrm>
          <a:prstGeom prst="roundRect">
            <a:avLst/>
          </a:prstGeom>
          <a:solidFill>
            <a:srgbClr val="F92B6B"/>
          </a:solidFill>
          <a:ln>
            <a:solidFill>
              <a:srgbClr val="F92B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620253" y="1411705"/>
            <a:ext cx="8694821" cy="1106906"/>
          </a:xfrm>
          <a:prstGeom prst="rect">
            <a:avLst/>
          </a:prstGeom>
          <a:noFill/>
          <a:ln>
            <a:solidFill>
              <a:srgbClr val="3B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1620252" y="3102370"/>
            <a:ext cx="8694821" cy="1106906"/>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2D050"/>
                </a:solidFill>
              </a:ln>
            </a:endParaRPr>
          </a:p>
        </p:txBody>
      </p:sp>
      <p:sp>
        <p:nvSpPr>
          <p:cNvPr id="13" name="Rectangle 12"/>
          <p:cNvSpPr/>
          <p:nvPr/>
        </p:nvSpPr>
        <p:spPr>
          <a:xfrm>
            <a:off x="1620253" y="5032563"/>
            <a:ext cx="8694821" cy="1106906"/>
          </a:xfrm>
          <a:prstGeom prst="rect">
            <a:avLst/>
          </a:prstGeom>
          <a:noFill/>
          <a:ln>
            <a:solidFill>
              <a:srgbClr val="F92B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2171542" y="1811640"/>
            <a:ext cx="6811608" cy="523220"/>
          </a:xfrm>
          <a:prstGeom prst="rect">
            <a:avLst/>
          </a:prstGeom>
          <a:noFill/>
        </p:spPr>
        <p:txBody>
          <a:bodyPr wrap="none" rtlCol="0">
            <a:spAutoFit/>
          </a:bodyPr>
          <a:lstStyle/>
          <a:p>
            <a:pPr marL="571500" indent="-571500">
              <a:buFont typeface="Arial" panose="020B0604020202020204" pitchFamily="34" charset="0"/>
              <a:buChar char="•"/>
            </a:pPr>
            <a:r>
              <a:rPr lang="en-US" sz="2800" dirty="0" smtClean="0"/>
              <a:t>Describes the routes application supports</a:t>
            </a:r>
            <a:endParaRPr lang="en-US" sz="2800" dirty="0"/>
          </a:p>
        </p:txBody>
      </p:sp>
      <p:sp>
        <p:nvSpPr>
          <p:cNvPr id="15" name="TextBox 14"/>
          <p:cNvSpPr txBox="1"/>
          <p:nvPr/>
        </p:nvSpPr>
        <p:spPr>
          <a:xfrm>
            <a:off x="2168612" y="3298533"/>
            <a:ext cx="7598100" cy="954107"/>
          </a:xfrm>
          <a:prstGeom prst="rect">
            <a:avLst/>
          </a:prstGeom>
          <a:noFill/>
        </p:spPr>
        <p:txBody>
          <a:bodyPr wrap="square" rtlCol="0">
            <a:spAutoFit/>
          </a:bodyPr>
          <a:lstStyle/>
          <a:p>
            <a:pPr marL="571500" indent="-571500">
              <a:buFont typeface="Arial" panose="020B0604020202020204" pitchFamily="34" charset="0"/>
              <a:buChar char="•"/>
            </a:pPr>
            <a:r>
              <a:rPr lang="en-US" sz="2800" dirty="0" smtClean="0"/>
              <a:t>A “placeholder” component that gets expanded to each content</a:t>
            </a:r>
            <a:endParaRPr lang="en-US" sz="2800" dirty="0"/>
          </a:p>
        </p:txBody>
      </p:sp>
      <p:sp>
        <p:nvSpPr>
          <p:cNvPr id="16" name="TextBox 15"/>
          <p:cNvSpPr txBox="1"/>
          <p:nvPr/>
        </p:nvSpPr>
        <p:spPr>
          <a:xfrm>
            <a:off x="2168612" y="5442324"/>
            <a:ext cx="7598100" cy="523220"/>
          </a:xfrm>
          <a:prstGeom prst="rect">
            <a:avLst/>
          </a:prstGeom>
          <a:noFill/>
        </p:spPr>
        <p:txBody>
          <a:bodyPr wrap="square" rtlCol="0">
            <a:spAutoFit/>
          </a:bodyPr>
          <a:lstStyle/>
          <a:p>
            <a:pPr marL="571500" indent="-571500">
              <a:buFont typeface="Arial" panose="020B0604020202020204" pitchFamily="34" charset="0"/>
              <a:buChar char="•"/>
            </a:pPr>
            <a:r>
              <a:rPr lang="en-US" sz="2800" dirty="0" smtClean="0"/>
              <a:t>Directive is used to link to routes</a:t>
            </a:r>
            <a:endParaRPr lang="en-US" sz="2800" dirty="0"/>
          </a:p>
        </p:txBody>
      </p:sp>
      <p:sp>
        <p:nvSpPr>
          <p:cNvPr id="17" name="TextBox 16"/>
          <p:cNvSpPr txBox="1"/>
          <p:nvPr/>
        </p:nvSpPr>
        <p:spPr>
          <a:xfrm>
            <a:off x="2727157" y="1009575"/>
            <a:ext cx="1650516" cy="707886"/>
          </a:xfrm>
          <a:prstGeom prst="rect">
            <a:avLst/>
          </a:prstGeom>
          <a:noFill/>
        </p:spPr>
        <p:txBody>
          <a:bodyPr wrap="none" rtlCol="0">
            <a:spAutoFit/>
          </a:bodyPr>
          <a:lstStyle/>
          <a:p>
            <a:r>
              <a:rPr lang="en-US" sz="4000" b="1" dirty="0" smtClean="0"/>
              <a:t>Routes</a:t>
            </a:r>
            <a:endParaRPr lang="en-US" sz="4000" b="1" dirty="0"/>
          </a:p>
        </p:txBody>
      </p:sp>
      <p:sp>
        <p:nvSpPr>
          <p:cNvPr id="18" name="TextBox 17"/>
          <p:cNvSpPr txBox="1"/>
          <p:nvPr/>
        </p:nvSpPr>
        <p:spPr>
          <a:xfrm>
            <a:off x="2726460" y="4676738"/>
            <a:ext cx="2493696" cy="707886"/>
          </a:xfrm>
          <a:prstGeom prst="rect">
            <a:avLst/>
          </a:prstGeom>
          <a:noFill/>
        </p:spPr>
        <p:txBody>
          <a:bodyPr wrap="none" rtlCol="0">
            <a:spAutoFit/>
          </a:bodyPr>
          <a:lstStyle/>
          <a:p>
            <a:r>
              <a:rPr lang="en-US" sz="4000" b="1" dirty="0" smtClean="0"/>
              <a:t>RouterLink</a:t>
            </a:r>
            <a:endParaRPr lang="en-US" sz="4000" b="1" dirty="0"/>
          </a:p>
        </p:txBody>
      </p:sp>
      <p:sp>
        <p:nvSpPr>
          <p:cNvPr id="19" name="TextBox 18"/>
          <p:cNvSpPr txBox="1"/>
          <p:nvPr/>
        </p:nvSpPr>
        <p:spPr>
          <a:xfrm>
            <a:off x="2727157" y="2595059"/>
            <a:ext cx="2815451" cy="707886"/>
          </a:xfrm>
          <a:prstGeom prst="rect">
            <a:avLst/>
          </a:prstGeom>
          <a:noFill/>
        </p:spPr>
        <p:txBody>
          <a:bodyPr wrap="none" rtlCol="0">
            <a:spAutoFit/>
          </a:bodyPr>
          <a:lstStyle/>
          <a:p>
            <a:r>
              <a:rPr lang="en-US" sz="4000" b="1" dirty="0" smtClean="0"/>
              <a:t>RouerOutlet</a:t>
            </a:r>
            <a:endParaRPr lang="en-US" sz="4000" b="1" dirty="0"/>
          </a:p>
        </p:txBody>
      </p:sp>
    </p:spTree>
    <p:extLst>
      <p:ext uri="{BB962C8B-B14F-4D97-AF65-F5344CB8AC3E}">
        <p14:creationId xmlns:p14="http://schemas.microsoft.com/office/powerpoint/2010/main" val="287414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11" grpId="0" animBg="1"/>
      <p:bldP spid="12" grpId="0" animBg="1"/>
      <p:bldP spid="13" grpId="0" animBg="1"/>
      <p:bldP spid="14" grpId="0"/>
      <p:bldP spid="15" grpId="0"/>
      <p:bldP spid="16" grpId="0"/>
      <p:bldP spid="17" grpId="0"/>
      <p:bldP spid="18"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82462" y="0"/>
            <a:ext cx="2489143" cy="923330"/>
          </a:xfrm>
          <a:prstGeom prst="rect">
            <a:avLst/>
          </a:prstGeom>
          <a:noFill/>
        </p:spPr>
        <p:txBody>
          <a:bodyPr wrap="none" lIns="91440" tIns="45720" rIns="91440" bIns="45720">
            <a:spAutoFit/>
          </a:bodyPr>
          <a:lstStyle/>
          <a:p>
            <a:pPr algn="ctr"/>
            <a:r>
              <a:rPr lang="en-US" sz="5400" b="1" cap="none" spc="0" dirty="0" smtClean="0">
                <a:ln w="0"/>
                <a:solidFill>
                  <a:schemeClr val="tx1"/>
                </a:solidFill>
                <a:effectLst>
                  <a:outerShdw blurRad="38100" dist="19050" dir="2700000" algn="tl" rotWithShape="0">
                    <a:schemeClr val="dk1">
                      <a:alpha val="40000"/>
                    </a:schemeClr>
                  </a:outerShdw>
                </a:effectLst>
              </a:rPr>
              <a:t>ROUTES</a:t>
            </a:r>
            <a:endParaRPr lang="en-US" sz="5400" b="1" cap="none" spc="0" dirty="0">
              <a:ln w="0"/>
              <a:solidFill>
                <a:schemeClr val="tx1"/>
              </a:solidFill>
              <a:effectLst>
                <a:outerShdw blurRad="38100" dist="19050" dir="2700000" algn="tl" rotWithShape="0">
                  <a:schemeClr val="dk1">
                    <a:alpha val="40000"/>
                  </a:schemeClr>
                </a:outerShdw>
              </a:effectLst>
            </a:endParaRPr>
          </a:p>
        </p:txBody>
      </p:sp>
      <p:sp>
        <p:nvSpPr>
          <p:cNvPr id="5" name="TextBox 4"/>
          <p:cNvSpPr txBox="1"/>
          <p:nvPr/>
        </p:nvSpPr>
        <p:spPr>
          <a:xfrm>
            <a:off x="236565" y="923330"/>
            <a:ext cx="11843140" cy="2677656"/>
          </a:xfrm>
          <a:prstGeom prst="rect">
            <a:avLst/>
          </a:prstGeom>
          <a:noFill/>
        </p:spPr>
        <p:txBody>
          <a:bodyPr wrap="square" rtlCol="0">
            <a:spAutoFit/>
          </a:bodyPr>
          <a:lstStyle/>
          <a:p>
            <a:pPr algn="just"/>
            <a:r>
              <a:rPr lang="en-US" sz="2800" dirty="0" smtClean="0"/>
              <a:t>To define routes for application, create a Routes configuration and then use </a:t>
            </a:r>
          </a:p>
          <a:p>
            <a:pPr algn="just"/>
            <a:r>
              <a:rPr lang="en-US" sz="2800" dirty="0" smtClean="0"/>
              <a:t>RouterModule.forRoot(routes)to provide application with the dependencies necessary to use the router.</a:t>
            </a:r>
          </a:p>
          <a:p>
            <a:pPr marL="285750" indent="-285750" algn="just">
              <a:buFont typeface="Arial" panose="020B0604020202020204" pitchFamily="34" charset="0"/>
              <a:buChar char="•"/>
            </a:pPr>
            <a:r>
              <a:rPr lang="en-US" sz="2800" dirty="0"/>
              <a:t>p</a:t>
            </a:r>
            <a:r>
              <a:rPr lang="en-US" sz="2800" dirty="0" smtClean="0"/>
              <a:t>ath: it specifies the URL this route will handle</a:t>
            </a:r>
          </a:p>
          <a:p>
            <a:pPr marL="285750" indent="-285750" algn="just">
              <a:buFont typeface="Arial" panose="020B0604020202020204" pitchFamily="34" charset="0"/>
              <a:buChar char="•"/>
            </a:pPr>
            <a:r>
              <a:rPr lang="en-US" sz="2800" dirty="0" smtClean="0"/>
              <a:t>Conponent: it maps to the Component and its template</a:t>
            </a:r>
          </a:p>
          <a:p>
            <a:pPr marL="285750" indent="-285750" algn="just">
              <a:buFont typeface="Arial" panose="020B0604020202020204" pitchFamily="34" charset="0"/>
              <a:buChar char="•"/>
            </a:pPr>
            <a:r>
              <a:rPr lang="en-US" sz="2800" dirty="0" smtClean="0"/>
              <a:t>redirectTo (optional): it is used to redirect a given path to an existing route</a:t>
            </a:r>
            <a:endParaRPr lang="en-US" sz="2800" dirty="0"/>
          </a:p>
        </p:txBody>
      </p:sp>
      <p:sp>
        <p:nvSpPr>
          <p:cNvPr id="6" name="TextBox 5"/>
          <p:cNvSpPr txBox="1"/>
          <p:nvPr/>
        </p:nvSpPr>
        <p:spPr>
          <a:xfrm>
            <a:off x="906265" y="3941788"/>
            <a:ext cx="8839200" cy="2677656"/>
          </a:xfrm>
          <a:prstGeom prst="rect">
            <a:avLst/>
          </a:prstGeom>
          <a:noFill/>
        </p:spPr>
        <p:txBody>
          <a:bodyPr wrap="square" rtlCol="0">
            <a:spAutoFit/>
          </a:bodyPr>
          <a:lstStyle/>
          <a:p>
            <a:r>
              <a:rPr lang="en-US" sz="2400" dirty="0" smtClean="0"/>
              <a:t>const routes: Routes = [</a:t>
            </a:r>
          </a:p>
          <a:p>
            <a:r>
              <a:rPr lang="en-US" sz="2400" dirty="0" smtClean="0"/>
              <a:t>  {    path: ‘’, redirectTo: ‘home’, </a:t>
            </a:r>
            <a:r>
              <a:rPr lang="en-US" sz="2400" dirty="0" err="1" smtClean="0"/>
              <a:t>pathMatch</a:t>
            </a:r>
            <a:r>
              <a:rPr lang="en-US" sz="2400" dirty="0" smtClean="0"/>
              <a:t>: ’full’},</a:t>
            </a:r>
          </a:p>
          <a:p>
            <a:r>
              <a:rPr lang="en-US" sz="2400" dirty="0" smtClean="0"/>
              <a:t>  {    path: ‘home',    component: </a:t>
            </a:r>
            <a:r>
              <a:rPr lang="en-US" sz="2400" dirty="0" err="1" smtClean="0"/>
              <a:t>HomeComponent</a:t>
            </a:r>
            <a:r>
              <a:rPr lang="en-US" sz="2400" dirty="0" smtClean="0"/>
              <a:t>  },</a:t>
            </a:r>
          </a:p>
          <a:p>
            <a:r>
              <a:rPr lang="en-US" sz="2400" dirty="0" smtClean="0"/>
              <a:t>  {    path: ‘about',    component: </a:t>
            </a:r>
            <a:r>
              <a:rPr lang="en-US" sz="2400" dirty="0" err="1" smtClean="0"/>
              <a:t>AboutComponent</a:t>
            </a:r>
            <a:r>
              <a:rPr lang="en-US" sz="2400" dirty="0" smtClean="0"/>
              <a:t>  },</a:t>
            </a:r>
          </a:p>
          <a:p>
            <a:r>
              <a:rPr lang="en-US" sz="2400" dirty="0" smtClean="0"/>
              <a:t>  {    </a:t>
            </a:r>
            <a:r>
              <a:rPr lang="en-US" sz="2400" dirty="0" smtClean="0"/>
              <a:t>path: ‘contact',    component: </a:t>
            </a:r>
            <a:r>
              <a:rPr lang="en-US" sz="2400" dirty="0" err="1" smtClean="0"/>
              <a:t>Contact</a:t>
            </a:r>
            <a:r>
              <a:rPr lang="en-US" sz="2400" dirty="0" err="1" smtClean="0"/>
              <a:t>Component</a:t>
            </a:r>
            <a:r>
              <a:rPr lang="en-US" sz="2400" dirty="0" smtClean="0"/>
              <a:t>  },</a:t>
            </a:r>
          </a:p>
          <a:p>
            <a:r>
              <a:rPr lang="en-US" sz="2400" dirty="0" smtClean="0"/>
              <a:t>  </a:t>
            </a:r>
            <a:r>
              <a:rPr lang="en-US" sz="2400" dirty="0" smtClean="0"/>
              <a:t>{    path: ‘</a:t>
            </a:r>
            <a:r>
              <a:rPr lang="en-US" sz="2400" dirty="0" err="1" smtClean="0"/>
              <a:t>contactus</a:t>
            </a:r>
            <a:r>
              <a:rPr lang="en-US" sz="2400" dirty="0" smtClean="0"/>
              <a:t>’, redirectTo: ‘contact’ },</a:t>
            </a:r>
            <a:endParaRPr lang="en-US" sz="2400" dirty="0" smtClean="0"/>
          </a:p>
          <a:p>
            <a:r>
              <a:rPr lang="en-US" sz="2400" dirty="0" smtClean="0"/>
              <a:t>];</a:t>
            </a:r>
            <a:endParaRPr lang="en-US" sz="2400" dirty="0"/>
          </a:p>
        </p:txBody>
      </p:sp>
      <p:sp>
        <p:nvSpPr>
          <p:cNvPr id="7" name="Rounded Rectangle 6"/>
          <p:cNvSpPr/>
          <p:nvPr/>
        </p:nvSpPr>
        <p:spPr>
          <a:xfrm>
            <a:off x="657726" y="3941788"/>
            <a:ext cx="9609221" cy="2677656"/>
          </a:xfrm>
          <a:prstGeom prst="round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70646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43831" y="0"/>
            <a:ext cx="3966407" cy="923330"/>
          </a:xfrm>
          <a:prstGeom prst="rect">
            <a:avLst/>
          </a:prstGeom>
          <a:noFill/>
        </p:spPr>
        <p:txBody>
          <a:bodyPr wrap="none" lIns="91440" tIns="45720" rIns="91440" bIns="45720">
            <a:spAutoFit/>
          </a:bodyPr>
          <a:lstStyle/>
          <a:p>
            <a:pPr algn="ctr"/>
            <a:r>
              <a:rPr lang="en-US" sz="5400" b="1" cap="none" spc="0" dirty="0" smtClean="0">
                <a:ln w="0"/>
                <a:solidFill>
                  <a:schemeClr val="tx1"/>
                </a:solidFill>
                <a:effectLst>
                  <a:outerShdw blurRad="38100" dist="19050" dir="2700000" algn="tl" rotWithShape="0">
                    <a:schemeClr val="dk1">
                      <a:alpha val="40000"/>
                    </a:schemeClr>
                  </a:outerShdw>
                </a:effectLst>
              </a:rPr>
              <a:t>RouterOutlet</a:t>
            </a:r>
            <a:endParaRPr lang="en-US" sz="5400" b="1" cap="none" spc="0" dirty="0">
              <a:ln w="0"/>
              <a:solidFill>
                <a:schemeClr val="tx1"/>
              </a:solidFill>
              <a:effectLst>
                <a:outerShdw blurRad="38100" dist="19050" dir="2700000" algn="tl" rotWithShape="0">
                  <a:schemeClr val="dk1">
                    <a:alpha val="40000"/>
                  </a:schemeClr>
                </a:outerShdw>
              </a:effectLst>
            </a:endParaRPr>
          </a:p>
        </p:txBody>
      </p:sp>
      <p:sp>
        <p:nvSpPr>
          <p:cNvPr id="5" name="TextBox 4"/>
          <p:cNvSpPr txBox="1"/>
          <p:nvPr/>
        </p:nvSpPr>
        <p:spPr>
          <a:xfrm>
            <a:off x="486186" y="1283368"/>
            <a:ext cx="11320804" cy="1815882"/>
          </a:xfrm>
          <a:prstGeom prst="rect">
            <a:avLst/>
          </a:prstGeom>
          <a:noFill/>
        </p:spPr>
        <p:txBody>
          <a:bodyPr wrap="square" rtlCol="0">
            <a:spAutoFit/>
          </a:bodyPr>
          <a:lstStyle/>
          <a:p>
            <a:pPr marL="342900" indent="-342900">
              <a:buFont typeface="Arial" panose="020B0604020202020204" pitchFamily="34" charset="0"/>
              <a:buChar char="•"/>
            </a:pPr>
            <a:r>
              <a:rPr lang="en-US" sz="2800" dirty="0" smtClean="0"/>
              <a:t>The router-outlet element indicates where the contents of each route component will be rendered.</a:t>
            </a:r>
          </a:p>
          <a:p>
            <a:pPr marL="342900" indent="-342900">
              <a:buFont typeface="Arial" panose="020B0604020202020204" pitchFamily="34" charset="0"/>
              <a:buChar char="•"/>
            </a:pPr>
            <a:r>
              <a:rPr lang="en-US" sz="2800" dirty="0" smtClean="0"/>
              <a:t>RouterOutlet directive is used to describe to angular where in our page we want to render the contents for each route.</a:t>
            </a:r>
            <a:endParaRPr lang="en-US" sz="2800" dirty="0"/>
          </a:p>
        </p:txBody>
      </p:sp>
      <p:sp>
        <p:nvSpPr>
          <p:cNvPr id="6" name="Rounded Rectangle 5"/>
          <p:cNvSpPr/>
          <p:nvPr/>
        </p:nvSpPr>
        <p:spPr>
          <a:xfrm>
            <a:off x="1852865" y="3480772"/>
            <a:ext cx="7748337" cy="2677656"/>
          </a:xfrm>
          <a:prstGeom prst="round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967791" y="3665438"/>
            <a:ext cx="5807242" cy="2308324"/>
          </a:xfrm>
          <a:prstGeom prst="rect">
            <a:avLst/>
          </a:prstGeom>
          <a:noFill/>
        </p:spPr>
        <p:txBody>
          <a:bodyPr wrap="square" rtlCol="0">
            <a:spAutoFit/>
          </a:bodyPr>
          <a:lstStyle/>
          <a:p>
            <a:r>
              <a:rPr lang="en-US" sz="2400" dirty="0" smtClean="0"/>
              <a:t>@Component({</a:t>
            </a:r>
          </a:p>
          <a:p>
            <a:r>
              <a:rPr lang="en-US" sz="2400" dirty="0" smtClean="0"/>
              <a:t>Selector: ‘my-app’,</a:t>
            </a:r>
          </a:p>
          <a:p>
            <a:r>
              <a:rPr lang="en-US" sz="2400" dirty="0" smtClean="0"/>
              <a:t>Template: `&lt;div class=“container”&gt;</a:t>
            </a:r>
          </a:p>
          <a:p>
            <a:r>
              <a:rPr lang="en-US" sz="2400" dirty="0" smtClean="0"/>
              <a:t>	&lt;router-outlet&gt;&lt;</a:t>
            </a:r>
            <a:r>
              <a:rPr lang="en-US" sz="2400" dirty="0" smtClean="0"/>
              <a:t> /router-outlet&gt;</a:t>
            </a:r>
          </a:p>
          <a:p>
            <a:r>
              <a:rPr lang="en-US" sz="2400" dirty="0" smtClean="0"/>
              <a:t>	&lt;/div&gt;</a:t>
            </a:r>
            <a:r>
              <a:rPr lang="en-US" sz="2400" dirty="0" smtClean="0"/>
              <a:t>`</a:t>
            </a:r>
          </a:p>
          <a:p>
            <a:r>
              <a:rPr lang="en-US" sz="2400" dirty="0" smtClean="0"/>
              <a:t>})</a:t>
            </a:r>
            <a:endParaRPr lang="en-US" sz="2400" dirty="0"/>
          </a:p>
        </p:txBody>
      </p:sp>
    </p:spTree>
    <p:extLst>
      <p:ext uri="{BB962C8B-B14F-4D97-AF65-F5344CB8AC3E}">
        <p14:creationId xmlns:p14="http://schemas.microsoft.com/office/powerpoint/2010/main" val="8299002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36657" y="0"/>
            <a:ext cx="3299493" cy="923330"/>
          </a:xfrm>
          <a:prstGeom prst="rect">
            <a:avLst/>
          </a:prstGeom>
          <a:noFill/>
        </p:spPr>
        <p:txBody>
          <a:bodyPr wrap="none" lIns="91440" tIns="45720" rIns="91440" bIns="45720">
            <a:spAutoFit/>
          </a:bodyPr>
          <a:lstStyle/>
          <a:p>
            <a:pPr algn="ctr"/>
            <a:r>
              <a:rPr lang="en-US" sz="5400" b="1" cap="none" spc="0" dirty="0" smtClean="0">
                <a:ln w="0"/>
                <a:solidFill>
                  <a:schemeClr val="tx1"/>
                </a:solidFill>
                <a:effectLst>
                  <a:outerShdw blurRad="38100" dist="19050" dir="2700000" algn="tl" rotWithShape="0">
                    <a:schemeClr val="dk1">
                      <a:alpha val="40000"/>
                    </a:schemeClr>
                  </a:outerShdw>
                </a:effectLst>
              </a:rPr>
              <a:t>RouterLink</a:t>
            </a:r>
            <a:endParaRPr lang="en-US" sz="5400" b="1" cap="none" spc="0" dirty="0">
              <a:ln w="0"/>
              <a:solidFill>
                <a:schemeClr val="tx1"/>
              </a:solidFill>
              <a:effectLst>
                <a:outerShdw blurRad="38100" dist="19050" dir="2700000" algn="tl" rotWithShape="0">
                  <a:schemeClr val="dk1">
                    <a:alpha val="40000"/>
                  </a:schemeClr>
                </a:outerShdw>
              </a:effectLst>
            </a:endParaRPr>
          </a:p>
        </p:txBody>
      </p:sp>
      <p:sp>
        <p:nvSpPr>
          <p:cNvPr id="5" name="TextBox 4"/>
          <p:cNvSpPr txBox="1"/>
          <p:nvPr/>
        </p:nvSpPr>
        <p:spPr>
          <a:xfrm>
            <a:off x="850230" y="1356832"/>
            <a:ext cx="10234863" cy="954107"/>
          </a:xfrm>
          <a:prstGeom prst="rect">
            <a:avLst/>
          </a:prstGeom>
          <a:noFill/>
        </p:spPr>
        <p:txBody>
          <a:bodyPr wrap="square" rtlCol="0">
            <a:spAutoFit/>
          </a:bodyPr>
          <a:lstStyle/>
          <a:p>
            <a:pPr marL="457200" indent="-457200">
              <a:buFont typeface="Arial" panose="020B0604020202020204" pitchFamily="34" charset="0"/>
              <a:buChar char="•"/>
            </a:pPr>
            <a:r>
              <a:rPr lang="en-US" sz="2800" dirty="0" smtClean="0"/>
              <a:t>It generates link based on the route path.</a:t>
            </a:r>
          </a:p>
          <a:p>
            <a:pPr marL="457200" indent="-457200">
              <a:buFont typeface="Arial" panose="020B0604020202020204" pitchFamily="34" charset="0"/>
              <a:buChar char="•"/>
            </a:pPr>
            <a:r>
              <a:rPr lang="en-US" sz="2800" dirty="0" err="1" smtClean="0"/>
              <a:t>routerLink</a:t>
            </a:r>
            <a:r>
              <a:rPr lang="en-US" sz="2800" dirty="0" smtClean="0"/>
              <a:t> navigates to a route</a:t>
            </a:r>
            <a:endParaRPr lang="en-US" sz="2800" dirty="0"/>
          </a:p>
        </p:txBody>
      </p:sp>
      <p:sp>
        <p:nvSpPr>
          <p:cNvPr id="6" name="Rounded Rectangle 5"/>
          <p:cNvSpPr/>
          <p:nvPr/>
        </p:nvSpPr>
        <p:spPr>
          <a:xfrm>
            <a:off x="1612234" y="3320351"/>
            <a:ext cx="7748337" cy="2677656"/>
          </a:xfrm>
          <a:prstGeom prst="round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069432" y="3753853"/>
            <a:ext cx="5948873" cy="1569660"/>
          </a:xfrm>
          <a:prstGeom prst="rect">
            <a:avLst/>
          </a:prstGeom>
          <a:noFill/>
        </p:spPr>
        <p:txBody>
          <a:bodyPr wrap="none" rtlCol="0">
            <a:spAutoFit/>
          </a:bodyPr>
          <a:lstStyle/>
          <a:p>
            <a:r>
              <a:rPr lang="en-US" sz="2400" dirty="0" smtClean="0"/>
              <a:t>&lt;div&gt;</a:t>
            </a:r>
          </a:p>
          <a:p>
            <a:r>
              <a:rPr lang="en-US" sz="2400" dirty="0"/>
              <a:t>	</a:t>
            </a:r>
            <a:r>
              <a:rPr lang="en-US" sz="2400" dirty="0" smtClean="0"/>
              <a:t>&lt;a [</a:t>
            </a:r>
            <a:r>
              <a:rPr lang="en-US" sz="2400" dirty="0" err="1" smtClean="0"/>
              <a:t>routerLink</a:t>
            </a:r>
            <a:r>
              <a:rPr lang="en-US" sz="2400" dirty="0" smtClean="0"/>
              <a:t>]=“[‘Home’]”&gt;Home&lt;/a&gt;</a:t>
            </a:r>
          </a:p>
          <a:p>
            <a:r>
              <a:rPr lang="en-US" sz="2400" dirty="0"/>
              <a:t>	</a:t>
            </a:r>
            <a:r>
              <a:rPr lang="en-US" sz="2400" dirty="0" smtClean="0"/>
              <a:t>&lt;</a:t>
            </a:r>
            <a:r>
              <a:rPr lang="en-US" sz="2400" dirty="0" smtClean="0"/>
              <a:t>a [</a:t>
            </a:r>
            <a:r>
              <a:rPr lang="en-US" sz="2400" dirty="0" err="1" smtClean="0"/>
              <a:t>routerLink</a:t>
            </a:r>
            <a:r>
              <a:rPr lang="en-US" sz="2400" dirty="0" smtClean="0"/>
              <a:t>]=“[‘About’]”&gt;About&lt;/a&gt;</a:t>
            </a:r>
          </a:p>
          <a:p>
            <a:r>
              <a:rPr lang="en-US" sz="2400" dirty="0" smtClean="0"/>
              <a:t>&lt;/div&gt;</a:t>
            </a:r>
            <a:endParaRPr lang="en-US" sz="2400" dirty="0" smtClean="0"/>
          </a:p>
        </p:txBody>
      </p:sp>
    </p:spTree>
    <p:extLst>
      <p:ext uri="{BB962C8B-B14F-4D97-AF65-F5344CB8AC3E}">
        <p14:creationId xmlns:p14="http://schemas.microsoft.com/office/powerpoint/2010/main" val="12037366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8135" y="1210962"/>
            <a:ext cx="3249827" cy="3249827"/>
          </a:xfrm>
          <a:prstGeom prst="rect">
            <a:avLst/>
          </a:prstGeom>
        </p:spPr>
      </p:pic>
      <p:sp>
        <p:nvSpPr>
          <p:cNvPr id="5" name="Rectangle 4"/>
          <p:cNvSpPr/>
          <p:nvPr/>
        </p:nvSpPr>
        <p:spPr>
          <a:xfrm>
            <a:off x="4515613" y="2374210"/>
            <a:ext cx="3374963" cy="923330"/>
          </a:xfrm>
          <a:prstGeom prst="rect">
            <a:avLst/>
          </a:prstGeom>
          <a:noFill/>
        </p:spPr>
        <p:txBody>
          <a:bodyPr wrap="none" lIns="91440" tIns="45720" rIns="91440" bIns="45720">
            <a:spAutoFit/>
          </a:bodyPr>
          <a:lstStyle/>
          <a:p>
            <a:pPr algn="ctr"/>
            <a:r>
              <a:rPr lang="en-US" sz="5400" b="1" cap="none" spc="0" dirty="0" smtClean="0">
                <a:ln w="0"/>
                <a:solidFill>
                  <a:schemeClr val="tx1"/>
                </a:solidFill>
                <a:effectLst>
                  <a:outerShdw blurRad="38100" dist="19050" dir="2700000" algn="tl" rotWithShape="0">
                    <a:schemeClr val="dk1">
                      <a:alpha val="40000"/>
                    </a:schemeClr>
                  </a:outerShdw>
                </a:effectLst>
              </a:rPr>
              <a:t>Thank You!</a:t>
            </a:r>
            <a:endParaRPr lang="en-US" sz="5400" b="1"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03343946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docProps/app.xml><?xml version="1.0" encoding="utf-8"?>
<Properties xmlns="http://schemas.openxmlformats.org/officeDocument/2006/extended-properties" xmlns:vt="http://schemas.openxmlformats.org/officeDocument/2006/docPropsVTypes">
  <Template>Office Theme</Template>
  <TotalTime>97</TotalTime>
  <Words>372</Words>
  <Application>Microsoft Office PowerPoint</Application>
  <PresentationFormat>Widescreen</PresentationFormat>
  <Paragraphs>50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Capgemini</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IG, hwdlab2D</dc:creator>
  <cp:lastModifiedBy>IG, hwdlab2D</cp:lastModifiedBy>
  <cp:revision>12</cp:revision>
  <dcterms:created xsi:type="dcterms:W3CDTF">2020-02-04T11:16:35Z</dcterms:created>
  <dcterms:modified xsi:type="dcterms:W3CDTF">2020-02-04T12:53:49Z</dcterms:modified>
</cp:coreProperties>
</file>